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CDCDC"/>
              </a:solidFill>
            </c:spPr>
          </c:dPt>
          <c:dPt>
            <c:idx val="1"/>
            <c:spPr>
              <a:solidFill>
                <a:srgbClr val="9A6F2E"/>
              </a:solidFill>
            </c:spPr>
          </c:dPt>
          <c:cat>
            <c:strRef>
              <c:f>Sheet1!$A$2:$A$3</c:f>
              <c:strCache>
                <c:ptCount val="2"/>
                <c:pt idx="0">
                  <c:v>現状</c:v>
                </c:pt>
                <c:pt idx="1">
                  <c:v>改善後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3</c:v>
                </c:pt>
              </c:numCache>
            </c:numRef>
          </c:val>
        </c:ser>
        <c:dLbls>
          <c:numFmt formatCode="0&quot;種&quot;" sourceLinked="0"/>
          <c:txPr>
            <a:bodyPr/>
            <a:lstStyle/>
            <a:p>
              <a:pPr>
                <a:defRPr sz="1100" b="0">
                  <a:solidFill>
                    <a:srgbClr val="1A1A1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88888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 b="0">
          <a:solidFill>
            <a:srgbClr val="888888"/>
          </a:solidFill>
          <a:latin typeface="Noto Sans JP Medium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EBBD2"/>
                </a:solidFill>
                <a:latin typeface="Noto Sans JP Medium"/>
                <a:ea typeface="Noto Sans JP Medium"/>
                <a:cs typeface="Noto Sans JP Medium"/>
              </a:rPr>
              <a:t>株式会社〇〇 </a:t>
            </a:r>
            <a:r>
              <a:rPr sz="1400" b="0">
                <a:solidFill>
                  <a:srgbClr val="AEBBD2"/>
                </a:solidFill>
                <a:latin typeface="Noto Sans JP Medium"/>
                <a:ea typeface="Noto Sans JP Medium"/>
                <a:cs typeface="Noto Sans JP Medium"/>
              </a:rPr>
              <a:t>御中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66420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spc="200">
                <a:solidFill>
                  <a:srgbClr val="EAD9B8"/>
                </a:solidFill>
                <a:latin typeface="Noto Sans JP Medium"/>
                <a:ea typeface="Noto Sans JP Medium"/>
                <a:cs typeface="Noto Sans JP Medium"/>
              </a:rPr>
              <a:t>コーポレートサイト改善提案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95144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600" b="0">
                <a:solidFill>
                  <a:srgbClr val="FFFFFF"/>
                </a:solidFill>
                <a:latin typeface="Noto Sans JP Medium"/>
                <a:ea typeface="Noto Sans JP Medium"/>
                <a:cs typeface="Noto Sans JP Medium"/>
              </a:rPr>
              <a:t>取りこぼしを止め、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600" b="0">
                <a:solidFill>
                  <a:srgbClr val="EAD9B8"/>
                </a:solidFill>
                <a:latin typeface="Noto Sans JP Medium"/>
                <a:ea typeface="Noto Sans JP Medium"/>
                <a:cs typeface="Noto Sans JP Medium"/>
              </a:rPr>
              <a:t>問い合わせを積み上げる。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89704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CBD5E6"/>
                </a:solidFill>
                <a:latin typeface="Noto Sans JP Medium"/>
                <a:ea typeface="Noto Sans JP Medium"/>
                <a:cs typeface="Noto Sans JP Medium"/>
              </a:rPr>
              <a:t>現状分析から導いた3つの改善施策と、実行ステップのご提案。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CBD5E6"/>
                </a:solidFill>
                <a:latin typeface="Noto Sans JP Medium"/>
                <a:ea typeface="Noto Sans JP Medium"/>
                <a:cs typeface="Noto Sans JP Medium"/>
              </a:rPr>
              <a:t>2026年10月　営業部 〇〇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01 ─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集客は足りている。課題は「取りこぼし」。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導線・受け皿・表示速度の3点を直し、</a:t>
            </a:r>
            <a:r>
              <a:rPr sz="20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来訪者を問い合わせに変える</a:t>
            </a: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仕組みをつくります。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3" y="2788920"/>
            <a:ext cx="3633215" cy="251460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8952" y="3154679"/>
            <a:ext cx="539496" cy="539496"/>
          </a:xfrm>
          <a:prstGeom prst="ellipse">
            <a:avLst/>
          </a:prstGeom>
          <a:solidFill>
            <a:srgbClr val="9A6F2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0">
                <a:solidFill>
                  <a:srgbClr val="FFFFFF"/>
                </a:solidFill>
                <a:latin typeface="Noto Sans JP Medium"/>
                <a:ea typeface="Noto Sans JP Medium"/>
                <a:cs typeface="Noto Sans JP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3" y="3081527"/>
            <a:ext cx="276453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スマホFVにCTA常設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優先度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4" y="4023360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最優先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531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期間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6504" y="4407408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2週間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371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KPI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4791456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スマホCVR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788920"/>
            <a:ext cx="3633215" cy="251460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9328" y="3154679"/>
            <a:ext cx="539496" cy="539496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0">
                <a:solidFill>
                  <a:srgbClr val="FFFFFF"/>
                </a:solidFill>
                <a:latin typeface="Noto Sans JP Medium"/>
                <a:ea typeface="Noto Sans JP Medium"/>
                <a:cs typeface="Noto Sans JP Mediu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1120" y="3081527"/>
            <a:ext cx="276453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資料DLの受け皿新設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4776" y="4069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優先度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6880" y="4023360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4776" y="44531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期間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6880" y="4407408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1か月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4776" y="48371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6880" y="4791456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資料DL数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4256" y="2788920"/>
            <a:ext cx="3633215" cy="251460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99704" y="3154679"/>
            <a:ext cx="539496" cy="539496"/>
          </a:xfrm>
          <a:prstGeom prst="ellipse">
            <a:avLst/>
          </a:prstGeom>
          <a:solidFill>
            <a:srgbClr val="256B6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000" b="0">
                <a:solidFill>
                  <a:srgbClr val="FFFFFF"/>
                </a:solidFill>
                <a:latin typeface="Noto Sans JP Medium"/>
                <a:ea typeface="Noto Sans JP Medium"/>
                <a:cs typeface="Noto Sans JP Medium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1496" y="3081527"/>
            <a:ext cx="276453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表示速度の半減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5152" y="4069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優先度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7256" y="4023360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5152" y="44531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期間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7256" y="4407408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1か月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5152" y="48371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KPI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256" y="4791456"/>
            <a:ext cx="2307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LCP 2.5秒以内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株式会社〇〇｜コーポレートサイト改善提案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02 ─ PROPOSAL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スマホFVにCTA常設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見た瞬間に、</a:t>
            </a:r>
            <a:r>
              <a:rPr sz="20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押せる</a:t>
            </a: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状態をつくる。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5234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・スマホFVに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CTAなし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〔SS確認〕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・問い合わせまで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4クリック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〔遷移確認〕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423160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56032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WHAT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5234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解決策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00400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・FVと画面下部に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追従CTA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を設置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・CTA文言を「無料相談」に変更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11979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4914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ROI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4116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効果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9219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・スマホCVRの改善（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目安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: 現状比1.2〜1.5倍）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・改修工数は小。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2週間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で実装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411979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54914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4116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動き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189219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1. GA4でスマホCVRの現状値を確認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2423160"/>
            <a:ext cx="3291839" cy="3840480"/>
          </a:xfrm>
          <a:prstGeom prst="roundRect">
            <a:avLst>
              <a:gd name="adj" fmla="val 2350"/>
            </a:avLst>
          </a:prstGeom>
          <a:solidFill>
            <a:srgbClr val="F5EEDF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3246120"/>
            <a:ext cx="2926079" cy="822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4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 クリック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160520"/>
            <a:ext cx="2926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トップ→問い合わせ完了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4800600"/>
            <a:ext cx="2926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目標は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2クリック</a:t>
            </a:r>
            <a:r>
              <a:rPr sz="1400" b="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以内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5760720"/>
            <a:ext cx="2926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出典：2026/10 遷移確認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株式会社〇〇｜コーポレートサイト改善提案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03 ─ PROPOSAL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資料DLの受け皿新設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今すぐ客以外も、</a:t>
            </a:r>
            <a:r>
              <a:rPr sz="20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リード</a:t>
            </a: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に変える。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5234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・CVが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問い合わせのみ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〔サイト確認〕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・検討初期の訪問者の受け皿なし（仮説）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423160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56032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WHAT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5234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解決策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00400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・サービス資料の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DLフォーム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を新設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・フォーム項目を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5項目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に絞る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11979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4914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ROI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4116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効果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9219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・リード数の上積み（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想定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・メール育成の母数を確保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411979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54914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4116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動き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189219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1. 既存の営業資料からDL用資料を選定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423160"/>
            <a:ext cx="3291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CVの入口数（想定）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8321040" y="2788920"/>
          <a:ext cx="329183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321040" y="5943600"/>
            <a:ext cx="3291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※改善後は想定値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株式会社〇〇｜コーポレートサイト改善提案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04 ─ PROPOSAL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表示速度の半減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待たせない。それだけで</a:t>
            </a:r>
            <a:r>
              <a:rPr sz="20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離脱</a:t>
            </a: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が減る。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3160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5234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・LCP 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4.8秒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〔PSI mobile〕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・1MB超の画像が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6枚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〔HTML確認〕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423160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56032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WHAT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5234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解決策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00400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・画像を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WebP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化し遅延読込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・不要スクリプトを削除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11979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4914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ROI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4116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効果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9219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・LCP 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2.5秒以内</a:t>
            </a: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（目標）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・直帰率の改善（想定）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411979"/>
            <a:ext cx="3703320" cy="185166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54914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41164"/>
            <a:ext cx="3337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動き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189219"/>
            <a:ext cx="3291839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1. 改修対象の画像とスクリプトを一覧化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2423160"/>
            <a:ext cx="3291839" cy="3840480"/>
          </a:xfrm>
          <a:prstGeom prst="roundRect">
            <a:avLst>
              <a:gd name="adj" fmla="val 2350"/>
            </a:avLst>
          </a:prstGeom>
          <a:solidFill>
            <a:srgbClr val="F5EEDF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3246120"/>
            <a:ext cx="2926079" cy="822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4.8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 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160520"/>
            <a:ext cx="2926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LCP（モバイル）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4800600"/>
            <a:ext cx="2926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目標は</a:t>
            </a:r>
            <a:r>
              <a:rPr sz="1400" b="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2.5秒</a:t>
            </a:r>
            <a:r>
              <a:rPr sz="1400" b="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以内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5760720"/>
            <a:ext cx="2926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出典：PageSpeed Insights ※サンプル値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株式会社〇〇｜コーポレートサイト改善提案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05 ─ NEXT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まずは2週間で、最優先の1手を。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現状数値の共有から実装着手まで、3ステップで進めます。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425952" cy="822960"/>
          </a:xfrm>
          <a:prstGeom prst="roundRect">
            <a:avLst>
              <a:gd name="adj" fmla="val 8000"/>
            </a:avLst>
          </a:prstGeom>
          <a:solidFill>
            <a:srgbClr val="9A6F2E"/>
          </a:solidFill>
          <a:ln w="19050">
            <a:solidFill>
              <a:srgbClr val="9A6F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7" y="2788920"/>
            <a:ext cx="32979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Noto Sans JP Medium"/>
                <a:ea typeface="Noto Sans JP Medium"/>
                <a:cs typeface="Noto Sans JP Medium"/>
              </a:rPr>
              <a:t>① GA4の現状数値を共有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4592" y="2743200"/>
            <a:ext cx="39319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3425952" cy="114300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96849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931920"/>
            <a:ext cx="2374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貴社ご担当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7997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期限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343400"/>
            <a:ext cx="2374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10/9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7784" y="2743200"/>
            <a:ext cx="3425952" cy="82296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19050">
            <a:solidFill>
              <a:srgbClr val="1F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1792" y="2788920"/>
            <a:ext cx="32979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Noto Sans JP Medium"/>
                <a:ea typeface="Noto Sans JP Medium"/>
                <a:cs typeface="Noto Sans JP Medium"/>
              </a:rPr>
              <a:t>② 改修範囲と見積の確定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3736" y="2743200"/>
            <a:ext cx="39319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7784" y="3749039"/>
            <a:ext cx="3425952" cy="114300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6384" y="396849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担当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6464" y="3931920"/>
            <a:ext cx="2374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弊社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6384" y="437997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期限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6464" y="4343400"/>
            <a:ext cx="2374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10/16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6928" y="2743200"/>
            <a:ext cx="3425952" cy="822960"/>
          </a:xfrm>
          <a:prstGeom prst="roundRect">
            <a:avLst>
              <a:gd name="adj" fmla="val 8000"/>
            </a:avLst>
          </a:prstGeom>
          <a:solidFill>
            <a:srgbClr val="256B64"/>
          </a:solidFill>
          <a:ln w="19050">
            <a:solidFill>
              <a:srgbClr val="256B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0936" y="2788920"/>
            <a:ext cx="32979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Noto Sans JP Medium"/>
                <a:ea typeface="Noto Sans JP Medium"/>
                <a:cs typeface="Noto Sans JP Medium"/>
              </a:rPr>
              <a:t>③ 提案01の実装着手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6928" y="3749039"/>
            <a:ext cx="3425952" cy="1143000"/>
          </a:xfrm>
          <a:prstGeom prst="roundRect">
            <a:avLst>
              <a:gd name="adj" fmla="val 2350"/>
            </a:avLst>
          </a:prstGeom>
          <a:solidFill>
            <a:srgbClr val="F5F5F2"/>
          </a:solidFill>
          <a:ln w="12700">
            <a:solidFill>
              <a:srgbClr val="DCDC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5528" y="396849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担当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5608" y="3931920"/>
            <a:ext cx="2374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弊社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5528" y="437997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256B64"/>
                </a:solidFill>
                <a:latin typeface="Noto Sans JP Medium"/>
                <a:ea typeface="Noto Sans JP Medium"/>
                <a:cs typeface="Noto Sans JP Medium"/>
              </a:rPr>
              <a:t>期限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5608" y="4343400"/>
            <a:ext cx="2374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10/20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5705856"/>
            <a:ext cx="1051560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F3A5F"/>
                </a:solidFill>
                <a:latin typeface="Noto Sans JP Medium"/>
                <a:ea typeface="Noto Sans JP Medium"/>
                <a:cs typeface="Noto Sans JP Medium"/>
              </a:rPr>
              <a:t>実装後は月次でCVRを確認し、提案02・03へ順次展開します。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株式会社〇〇｜コーポレートサイト改善提案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spc="300">
                <a:solidFill>
                  <a:srgbClr val="9A6F2E"/>
                </a:solidFill>
                <a:latin typeface="Noto Sans JP Medium"/>
                <a:ea typeface="Noto Sans JP Medium"/>
                <a:cs typeface="Noto Sans JP Medium"/>
              </a:rPr>
              <a:t>06 ─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>
                <a:solidFill>
                  <a:srgbClr val="1A1A1A"/>
                </a:solidFill>
                <a:latin typeface="Noto Sans JP Medium"/>
                <a:ea typeface="Noto Sans JP Medium"/>
                <a:cs typeface="Noto Sans JP Medium"/>
              </a:rPr>
              <a:t>分析根拠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0545775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5029200"/>
                <a:gridCol w="3687775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観点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事実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出典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CV導線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スマホFVにCTAなし。問い合わせまで4クリック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スクリーンショット・遷移確認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SEO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title が全ページ同一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HTML確認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表示速度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LCP 4.8秒。1MB超の画像6枚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PageSpeed Insights（mobile）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計測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サンクスページなし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Noto Sans JP Medium"/>
                          <a:ea typeface="Noto Sans JP Medium"/>
                          <a:cs typeface="Noto Sans JP Medium"/>
                        </a:rPr>
                        <a:t>フォーム送信確認</a:t>
                      </a:r>
                    </a:p>
                  </a:txBody>
                  <a:tcPr anchor="ctr" marL="91440" marR="91440">
                    <a:lnL w="6350">
                      <a:solidFill>
                        <a:srgbClr val="DCDCDC"/>
                      </a:solidFill>
                    </a:lnL>
                    <a:lnR w="6350">
                      <a:solidFill>
                        <a:srgbClr val="DCDCDC"/>
                      </a:solidFill>
                    </a:lnR>
                    <a:lnT w="6350">
                      <a:solidFill>
                        <a:srgbClr val="DCDCDC"/>
                      </a:solidFill>
                    </a:lnT>
                    <a:lnB w="6350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※本サンプルの数値はすべて記入例です。実案件では実測値に置き換えてください。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株式会社〇〇｜コーポレートサイト改善提案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Noto Sans JP Medium"/>
                <a:ea typeface="Noto Sans JP Medium"/>
                <a:cs typeface="Noto Sans JP Medium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9961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spc="200">
                <a:solidFill>
                  <a:srgbClr val="EAD9B8"/>
                </a:solidFill>
                <a:latin typeface="Noto Sans JP Medium"/>
                <a:ea typeface="Noto Sans JP Medium"/>
                <a:cs typeface="Noto Sans JP Medium"/>
              </a:rPr>
              <a:t>コーポレートサイト改善提案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04288"/>
            <a:ext cx="10972800" cy="2304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600" b="0">
                <a:solidFill>
                  <a:srgbClr val="FFFFFF"/>
                </a:solidFill>
                <a:latin typeface="Noto Sans JP Medium"/>
                <a:ea typeface="Noto Sans JP Medium"/>
                <a:cs typeface="Noto Sans JP Medium"/>
              </a:rPr>
              <a:t>見つけてもらうだけで終わらせない。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600" b="0">
                <a:solidFill>
                  <a:srgbClr val="EAD9B8"/>
                </a:solidFill>
                <a:latin typeface="Noto Sans JP Medium"/>
                <a:ea typeface="Noto Sans JP Medium"/>
                <a:cs typeface="Noto Sans JP Medium"/>
              </a:rPr>
              <a:t>選ばれるサイトへ。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