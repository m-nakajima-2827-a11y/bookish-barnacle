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DCDCDC"/>
              </a:solidFill>
            </c:spPr>
          </c:dPt>
          <c:dPt>
            <c:idx val="1"/>
            <c:spPr>
              <a:solidFill>
                <a:srgbClr val="9A6F2E"/>
              </a:solidFill>
            </c:spPr>
          </c:dPt>
          <c:cat>
            <c:strRef>
              <c:f>Sheet1!$A$2:$A$3</c:f>
              <c:strCache>
                <c:ptCount val="2"/>
                <c:pt idx="0">
                  <c:v>現状</c:v>
                </c:pt>
                <c:pt idx="1">
                  <c:v>改善後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dLbls>
          <c:numFmt formatCode="0&quot;種&quot;" sourceLinked="0"/>
          <c:txPr>
            <a:bodyPr/>
            <a:lstStyle/>
            <a:p>
              <a:pPr>
                <a:defRPr sz="1100" b="0">
                  <a:solidFill>
                    <a:srgbClr val="1A1A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 b="0">
          <a:solidFill>
            <a:srgbClr val="888888"/>
          </a:solidFill>
          <a:latin typeface="Noto Sans JP Medium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9224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BD2"/>
                </a:solidFill>
                <a:latin typeface="Noto Sans JP Medium"/>
                <a:ea typeface="Noto Sans JP Medium"/>
                <a:cs typeface="Noto Sans JP Medium"/>
              </a:rPr>
              <a:t>株式会社〇〇 </a:t>
            </a:r>
            <a:r>
              <a:rPr sz="1400" b="0">
                <a:solidFill>
                  <a:srgbClr val="AEBBD2"/>
                </a:solidFill>
                <a:latin typeface="Noto Sans JP Medium"/>
                <a:ea typeface="Noto Sans JP Medium"/>
                <a:cs typeface="Noto Sans JP Medium"/>
              </a:rPr>
              <a:t>御中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66420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spc="200">
                <a:solidFill>
                  <a:srgbClr val="EAD9B8"/>
                </a:solidFill>
                <a:latin typeface="Noto Sans JP Medium"/>
                <a:ea typeface="Noto Sans JP Medium"/>
                <a:cs typeface="Noto Sans JP Medium"/>
              </a:rPr>
              <a:t>コーポレートサイト改善提案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95144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取りこぼしを止め、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0">
                <a:solidFill>
                  <a:srgbClr val="EAD9B8"/>
                </a:solidFill>
                <a:latin typeface="Noto Sans JP Medium"/>
                <a:ea typeface="Noto Sans JP Medium"/>
                <a:cs typeface="Noto Sans JP Medium"/>
              </a:rPr>
              <a:t>問い合わせを積み上げる。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489704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CBD5E6"/>
                </a:solidFill>
                <a:latin typeface="Noto Sans JP Medium"/>
                <a:ea typeface="Noto Sans JP Medium"/>
                <a:cs typeface="Noto Sans JP Medium"/>
              </a:rPr>
              <a:t>現状分析から導いた3つの改善施策と、実行ステップのご提案。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CBD5E6"/>
                </a:solidFill>
                <a:latin typeface="Noto Sans JP Medium"/>
                <a:ea typeface="Noto Sans JP Medium"/>
                <a:cs typeface="Noto Sans JP Medium"/>
              </a:rPr>
              <a:t>2026年10月　営業部 〇〇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01 ─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集客は足りている。課題は「取りこぼし」。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導線・受け皿・表示速度の3点を直し、</a:t>
            </a:r>
            <a:r>
              <a:rPr sz="20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来訪者を問い合わせに変える</a:t>
            </a: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仕組みをつくります。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3" y="2788920"/>
            <a:ext cx="3633215" cy="251460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3154679"/>
            <a:ext cx="539496" cy="539496"/>
          </a:xfrm>
          <a:prstGeom prst="ellipse">
            <a:avLst/>
          </a:prstGeom>
          <a:solidFill>
            <a:srgbClr val="9A6F2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3" y="3081527"/>
            <a:ext cx="27645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スマホFVにCTA常設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優先度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4023360"/>
            <a:ext cx="2307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最優先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531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期間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6504" y="4407408"/>
            <a:ext cx="2307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2週間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371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4791456"/>
            <a:ext cx="2307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スマホCVR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3880" y="2788920"/>
            <a:ext cx="3633215" cy="251460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9328" y="3154679"/>
            <a:ext cx="539496" cy="539496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1120" y="3081527"/>
            <a:ext cx="27645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資料DLの受け皿新設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4776" y="4069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優先度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6880" y="4023360"/>
            <a:ext cx="2307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4776" y="44531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期間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6880" y="4407408"/>
            <a:ext cx="2307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1か月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4776" y="48371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6880" y="4791456"/>
            <a:ext cx="2307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資料DL数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4256" y="2788920"/>
            <a:ext cx="3633215" cy="251460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99704" y="3154679"/>
            <a:ext cx="539496" cy="539496"/>
          </a:xfrm>
          <a:prstGeom prst="ellipse">
            <a:avLst/>
          </a:prstGeom>
          <a:solidFill>
            <a:srgbClr val="256B6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1496" y="3081527"/>
            <a:ext cx="27645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表示速度の半減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5152" y="4069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優先度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7256" y="4023360"/>
            <a:ext cx="2307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5152" y="44531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期間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7256" y="4407408"/>
            <a:ext cx="2307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1か月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5152" y="48371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KPI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7256" y="4791456"/>
            <a:ext cx="2307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LCP 2.5秒以内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02 ─ PROPOSAL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スマホFVにCTA常設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見た瞬間に、</a:t>
            </a:r>
            <a:r>
              <a:rPr sz="20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押せる</a:t>
            </a: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状態をつくる。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5234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・スマホFVに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CTAなし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〔SS確認〕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・問い合わせまで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4クリック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〔遷移確認〕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5234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解決策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00400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・FVと画面下部に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追従CTA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を設置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・CTA文言を「無料相談」に変更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11979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4914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4116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効果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89219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・スマホCVRの改善（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目安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: 現状比1.2〜1.5倍）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・改修工数は小。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2週間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で実装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411979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54914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4116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動き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189219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1. GA4でスマホCVRの現状値を確認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423160"/>
            <a:ext cx="3291839" cy="3840480"/>
          </a:xfrm>
          <a:prstGeom prst="roundRect">
            <a:avLst>
              <a:gd name="adj" fmla="val 2350"/>
            </a:avLst>
          </a:prstGeom>
          <a:solidFill>
            <a:srgbClr val="F5EEDF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3246120"/>
            <a:ext cx="2926079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4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 クリック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16052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トップ→問い合わせ完了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4800600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目標は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2クリック</a:t>
            </a:r>
            <a:r>
              <a:rPr sz="1400" b="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以内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5760720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出典：2026/10 遷移確認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02 ─ PROPOSAL 01｜スマホFVにCTA常設｜現状課題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見られている。でも、押されていない。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流入の約7割を占めるスマホで、問い合わせへの導線が途切れています。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40280"/>
          <a:ext cx="6720840" cy="905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463040"/>
                <a:gridCol w="1463040"/>
                <a:gridCol w="1463040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期間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セッション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CV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CVR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直近1か月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5,200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6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0.12%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直近6か月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29,800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41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0.14%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18688"/>
            <a:ext cx="6720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※記入例（実案件ではGA4の実数に置き換え）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11296"/>
            <a:ext cx="6720840" cy="1837943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48456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現状のページ（確認した事実）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95344"/>
            <a:ext cx="6263640" cy="1380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・スマホのFVは「確かな技術で、未来をつくる。」のキャッチと写真のみ。</a:t>
            </a:r>
            <a:r>
              <a:rPr sz="13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CTAなし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・「お問い合わせ」はグローバルナビ内とページ末尾の</a:t>
            </a:r>
            <a:r>
              <a:rPr sz="13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2か所</a:t>
            </a:r>
            <a:r>
              <a:rPr sz="13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のみ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・問い合わせ完了まで</a:t>
            </a:r>
            <a:r>
              <a:rPr sz="13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4クリック</a:t>
            </a:r>
            <a:r>
              <a:rPr sz="13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（トップ→サービス→お問い合わせ→確認）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59" y="2240280"/>
            <a:ext cx="4160520" cy="3108959"/>
          </a:xfrm>
          <a:prstGeom prst="roundRect">
            <a:avLst>
              <a:gd name="adj" fmla="val 2350"/>
            </a:avLst>
          </a:prstGeom>
          <a:solidFill>
            <a:srgbClr val="F5EEDF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46888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課題の本質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834640"/>
            <a:ext cx="3611880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関心を持った瞬間に</a:t>
            </a:r>
            <a:r>
              <a:rPr sz="19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押せるボタンがない</a:t>
            </a:r>
            <a:r>
              <a:rPr sz="1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ため、比較検討中の訪問者が離脱している可能性があります。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「読ませて終わるページ」から「</a:t>
            </a:r>
            <a:r>
              <a:rPr sz="1800" b="0">
                <a:solidFill>
                  <a:srgbClr val="EAD9B8"/>
                </a:solidFill>
                <a:latin typeface="Noto Sans JP Medium"/>
                <a:ea typeface="Noto Sans JP Medium"/>
                <a:cs typeface="Noto Sans JP Medium"/>
              </a:rPr>
              <a:t>その場で相談できるページ</a:t>
            </a:r>
            <a:r>
              <a:rPr sz="18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」へ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02 ─ PROPOSAL 01｜スマホFVにCTA常設｜改善案①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FVと画面下部に、相談の入口を常設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スクロール位置にかかわらず、いつでも相談できる状態をつくります。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4434840" cy="3108959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04872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現状課題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977639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・FVはキャッチと写真のみで、次の行動が示されていない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・CTAの文言は「お問い合わせ」のみ。何が得られるか分からない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・スマホではナビを開かないとCTAが見えない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20640" y="3474720"/>
            <a:ext cx="548640" cy="640080"/>
          </a:xfrm>
          <a:prstGeom prst="rightArrow">
            <a:avLst/>
          </a:prstGeom>
          <a:solidFill>
            <a:srgbClr val="9A6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6440" y="2240280"/>
            <a:ext cx="5806440" cy="3108959"/>
          </a:xfrm>
          <a:prstGeom prst="roundRect">
            <a:avLst>
              <a:gd name="adj" fmla="val 2350"/>
            </a:avLst>
          </a:prstGeom>
          <a:solidFill>
            <a:srgbClr val="F5EEDF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59" y="2404872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改善後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97480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CTA「30分の無料相談を予約する」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200400"/>
            <a:ext cx="5257800" cy="2057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FV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｜キャッチ直下にボタンを配置。補足に「オンライン可・費用はかかりません」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追従バー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｜画面下部に［無料相談］［資料ダウンロード］を常設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・完了まで｜フォーム直行で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2クリック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に短縮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事務的な「お問い合わせ」から、</a:t>
            </a:r>
            <a:r>
              <a:rPr sz="1800" b="0">
                <a:solidFill>
                  <a:srgbClr val="EAD9B8"/>
                </a:solidFill>
                <a:latin typeface="Noto Sans JP Medium"/>
                <a:ea typeface="Noto Sans JP Medium"/>
                <a:cs typeface="Noto Sans JP Medium"/>
              </a:rPr>
              <a:t>相談で得られるもの</a:t>
            </a:r>
            <a:r>
              <a:rPr sz="18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が分かるCTAへ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02 ─ PROPOSAL 01｜スマホFVにCTA常設｜改善案まとめ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スマホのページ構成を「相談したい」へ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既存コンテンツは活かし、CTAの位置と文言を中心に再編集します。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6903720" cy="4023359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04872"/>
            <a:ext cx="6355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改善後のページ構成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43200"/>
            <a:ext cx="6355080" cy="3428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FV</a:t>
            </a:r>
            <a:r>
              <a:rPr sz="12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　キャッチ＋無料相談CTA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↓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① 何を解決できるか</a:t>
            </a:r>
            <a:r>
              <a:rPr sz="12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　対応領域を3つに要約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↓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② 導入実績</a:t>
            </a:r>
            <a:r>
              <a:rPr sz="12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　既存の事例ページから抜粋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↓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③ 相談の流れ</a:t>
            </a:r>
            <a:r>
              <a:rPr sz="12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　30分・オンライン可・費用なし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↓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追従バー（無料相談／資料DL）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40280"/>
            <a:ext cx="3977639" cy="4023359"/>
          </a:xfrm>
          <a:prstGeom prst="roundRect">
            <a:avLst>
              <a:gd name="adj" fmla="val 2350"/>
            </a:avLst>
          </a:prstGeom>
          <a:solidFill>
            <a:srgbClr val="F5EEDF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468880"/>
            <a:ext cx="3428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改善効果予測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788920"/>
            <a:ext cx="3428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スマホCVR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246120"/>
            <a:ext cx="3428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spc="30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現状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474720"/>
            <a:ext cx="34289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0.12%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023360"/>
            <a:ext cx="3428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389120"/>
            <a:ext cx="3428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目標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617720"/>
            <a:ext cx="34289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0.18%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577840"/>
            <a:ext cx="34289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目標値（想定）。※記入例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03 ─ PROPOSAL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資料DLの受け皿新設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今すぐ客以外も、</a:t>
            </a:r>
            <a:r>
              <a:rPr sz="20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リード</a:t>
            </a: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に変える。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5234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・CVが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問い合わせのみ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〔サイト確認〕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・検討初期の訪問者の受け皿なし（仮説）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5234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解決策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00400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・サービス資料の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DLフォーム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を新設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・フォーム項目を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5項目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に絞る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11979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4914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4116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効果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89219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・リード数の上積み（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想定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・メール育成の母数を確保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411979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54914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4116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動き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189219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1. 既存の営業資料からDL用資料を選定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23160"/>
            <a:ext cx="3291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CVの入口数（想定）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8321040" y="2788920"/>
          <a:ext cx="3291839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321040" y="5943600"/>
            <a:ext cx="3291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※改善後は想定値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03 ─ PROPOSAL 02｜資料DLの受け皿新設｜改善案①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「選定チェックリスト」を無料DLに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問い合わせの手前で取れる行動を用意します。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4434840" cy="3108959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04872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現状課題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977639" cy="2560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・CVは「お問い合わせ」のみ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・検討初期の訪問者には行動ハードルが高い（仮説）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20640" y="3474720"/>
            <a:ext cx="548640" cy="640080"/>
          </a:xfrm>
          <a:prstGeom prst="rightArrow">
            <a:avLst/>
          </a:prstGeom>
          <a:solidFill>
            <a:srgbClr val="9A6F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6440" y="2240280"/>
            <a:ext cx="5806440" cy="3108959"/>
          </a:xfrm>
          <a:prstGeom prst="roundRect">
            <a:avLst>
              <a:gd name="adj" fmla="val 2350"/>
            </a:avLst>
          </a:prstGeom>
          <a:solidFill>
            <a:srgbClr val="F5EEDF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59" y="2404872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改善後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2697480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DLフォームは3項目でテスト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3200400"/>
            <a:ext cx="5257800" cy="2057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資料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｜「外注先選びで確認したい15項目」（仮）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フォーム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｜会社名・メールアドレス・業種の3項目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サンクスページ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｜［事例を見る］［無料相談を予約する］へ誘導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532120"/>
            <a:ext cx="10515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DL → サンクスページで、</a:t>
            </a:r>
            <a:r>
              <a:rPr sz="1800" b="0">
                <a:solidFill>
                  <a:srgbClr val="EAD9B8"/>
                </a:solidFill>
                <a:latin typeface="Noto Sans JP Medium"/>
                <a:ea typeface="Noto Sans JP Medium"/>
                <a:cs typeface="Noto Sans JP Medium"/>
              </a:rPr>
              <a:t>次のCV（無料相談）</a:t>
            </a:r>
            <a:r>
              <a:rPr sz="18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へつなげる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04 ─ PROPOSAL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表示速度の半減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待たせない。それだけで</a:t>
            </a:r>
            <a:r>
              <a:rPr sz="20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離脱</a:t>
            </a: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が減る。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5234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課題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・LCP 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4.8秒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〔PSI mobile〕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・1MB超の画像が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6枚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〔HTML確認〕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23160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5234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解決策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00400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・画像を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WebP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化し遅延読込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・不要スクリプトを削除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11979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4914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4116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効果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89219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・LCP 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2.5秒以内</a:t>
            </a: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（目標）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・直帰率の改善（想定）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411979"/>
            <a:ext cx="3703320" cy="185166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549140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41164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動き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5189219"/>
            <a:ext cx="3291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1. 改修対象の画像とスクリプトを一覧化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423160"/>
            <a:ext cx="3291839" cy="3840480"/>
          </a:xfrm>
          <a:prstGeom prst="roundRect">
            <a:avLst>
              <a:gd name="adj" fmla="val 2350"/>
            </a:avLst>
          </a:prstGeom>
          <a:solidFill>
            <a:srgbClr val="F5EEDF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3246120"/>
            <a:ext cx="2926079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4.8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16052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LCP（モバイル）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4800600"/>
            <a:ext cx="2926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目標は</a:t>
            </a:r>
            <a:r>
              <a:rPr sz="1400" b="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2.5秒</a:t>
            </a:r>
            <a:r>
              <a:rPr sz="1400" b="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以内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5760720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出典：PageSpeed Insights ※サンプル値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05 ─ NEXT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まずは2週間で、最優先の1手を。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現状数値の共有から実装着手まで、3ステップで進めます。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3425952" cy="822960"/>
          </a:xfrm>
          <a:prstGeom prst="roundRect">
            <a:avLst>
              <a:gd name="adj" fmla="val 8000"/>
            </a:avLst>
          </a:prstGeom>
          <a:solidFill>
            <a:srgbClr val="9A6F2E"/>
          </a:solidFill>
          <a:ln w="19050">
            <a:solidFill>
              <a:srgbClr val="9A6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" y="2788920"/>
            <a:ext cx="32979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① GA4の現状数値を共有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4592" y="2743200"/>
            <a:ext cx="39319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3425952" cy="114300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6849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担当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931920"/>
            <a:ext cx="2374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貴社ご担当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799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期限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4343400"/>
            <a:ext cx="2374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10/9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7784" y="2743200"/>
            <a:ext cx="3425952" cy="8229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1792" y="2788920"/>
            <a:ext cx="32979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② 改修範囲と見積の確定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3736" y="2743200"/>
            <a:ext cx="39319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7784" y="3749039"/>
            <a:ext cx="3425952" cy="114300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6384" y="396849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担当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6464" y="3931920"/>
            <a:ext cx="2374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弊社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6384" y="43799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期限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6464" y="4343400"/>
            <a:ext cx="2374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10/16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6928" y="2743200"/>
            <a:ext cx="3425952" cy="822960"/>
          </a:xfrm>
          <a:prstGeom prst="roundRect">
            <a:avLst>
              <a:gd name="adj" fmla="val 8000"/>
            </a:avLst>
          </a:prstGeom>
          <a:solidFill>
            <a:srgbClr val="256B64"/>
          </a:solidFill>
          <a:ln w="19050">
            <a:solidFill>
              <a:srgbClr val="256B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0936" y="2788920"/>
            <a:ext cx="32979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③ 提案01の実装着手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6928" y="3749039"/>
            <a:ext cx="3425952" cy="1143000"/>
          </a:xfrm>
          <a:prstGeom prst="roundRect">
            <a:avLst>
              <a:gd name="adj" fmla="val 2350"/>
            </a:avLst>
          </a:prstGeom>
          <a:solidFill>
            <a:srgbClr val="F5F5F2"/>
          </a:solidFill>
          <a:ln w="12700">
            <a:solidFill>
              <a:srgbClr val="DCDC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5528" y="396849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担当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5608" y="3931920"/>
            <a:ext cx="2374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弊社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5528" y="43799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256B64"/>
                </a:solidFill>
                <a:latin typeface="Noto Sans JP Medium"/>
                <a:ea typeface="Noto Sans JP Medium"/>
                <a:cs typeface="Noto Sans JP Medium"/>
              </a:rPr>
              <a:t>期限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5608" y="4343400"/>
            <a:ext cx="2374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10/20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5705856"/>
            <a:ext cx="10515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F3A5F"/>
                </a:solidFill>
                <a:latin typeface="Noto Sans JP Medium"/>
                <a:ea typeface="Noto Sans JP Medium"/>
                <a:cs typeface="Noto Sans JP Medium"/>
              </a:rPr>
              <a:t>実装後は月次でCVRを確認し、提案02・03へ順次展開します。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spc="300">
                <a:solidFill>
                  <a:srgbClr val="9A6F2E"/>
                </a:solidFill>
                <a:latin typeface="Noto Sans JP Medium"/>
                <a:ea typeface="Noto Sans JP Medium"/>
                <a:cs typeface="Noto Sans JP Medium"/>
              </a:rPr>
              <a:t>06 ─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0">
                <a:solidFill>
                  <a:srgbClr val="1A1A1A"/>
                </a:solidFill>
                <a:latin typeface="Noto Sans JP Medium"/>
                <a:ea typeface="Noto Sans JP Medium"/>
                <a:cs typeface="Noto Sans JP Medium"/>
              </a:rPr>
              <a:t>分析根拠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0545775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5029200"/>
                <a:gridCol w="3687775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観点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事実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出典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CV導線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スマホFVにCTAなし。問い合わせまで4クリック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スクリーンショット・遷移確認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SEO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title が全ページ同一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HTML確認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表示速度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LCP 4.8秒。1MB超の画像6枚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PageSpeed Insights（mobile）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計測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サンクスページなし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Noto Sans JP Medium"/>
                          <a:ea typeface="Noto Sans JP Medium"/>
                          <a:cs typeface="Noto Sans JP Medium"/>
                        </a:rPr>
                        <a:t>フォーム送信確認</a:t>
                      </a:r>
                    </a:p>
                  </a:txBody>
                  <a:tcPr anchor="ctr" marL="91440" marR="91440">
                    <a:lnL w="6350">
                      <a:solidFill>
                        <a:srgbClr val="DCDCDC"/>
                      </a:solidFill>
                    </a:lnL>
                    <a:lnR w="6350">
                      <a:solidFill>
                        <a:srgbClr val="DCDCDC"/>
                      </a:solidFill>
                    </a:lnR>
                    <a:lnT w="6350">
                      <a:solidFill>
                        <a:srgbClr val="DCDCDC"/>
                      </a:solidFill>
                    </a:lnT>
                    <a:lnB w="6350">
                      <a:solidFill>
                        <a:srgbClr val="DCDC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※本サンプルの数値はすべて記入例です。実案件では実測値に置き換えてください。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株式会社〇〇｜コーポレートサイト改善提案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Noto Sans JP Medium"/>
                <a:ea typeface="Noto Sans JP Medium"/>
                <a:cs typeface="Noto Sans JP Medium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9961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spc="200">
                <a:solidFill>
                  <a:srgbClr val="EAD9B8"/>
                </a:solidFill>
                <a:latin typeface="Noto Sans JP Medium"/>
                <a:ea typeface="Noto Sans JP Medium"/>
                <a:cs typeface="Noto Sans JP Medium"/>
              </a:rPr>
              <a:t>コーポレートサイト改善提案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304288"/>
            <a:ext cx="10972800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Noto Sans JP Medium"/>
                <a:ea typeface="Noto Sans JP Medium"/>
                <a:cs typeface="Noto Sans JP Medium"/>
              </a:rPr>
              <a:t>見つけてもらうだけで終わらせない。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0">
                <a:solidFill>
                  <a:srgbClr val="EAD9B8"/>
                </a:solidFill>
                <a:latin typeface="Noto Sans JP Medium"/>
                <a:ea typeface="Noto Sans JP Medium"/>
                <a:cs typeface="Noto Sans JP Medium"/>
              </a:rPr>
              <a:t>選ばれるサイトへ。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